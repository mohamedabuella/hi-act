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70" r:id="rId6"/>
    <p:sldId id="396" r:id="rId7"/>
    <p:sldId id="262" r:id="rId8"/>
    <p:sldId id="264" r:id="rId9"/>
    <p:sldId id="399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CCFFCC"/>
    <a:srgbClr val="EBE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227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1A99D-657F-4FBC-ADBA-97F1853DED19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1A464-FCA2-4ED7-A311-3FE18B08B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547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1A464-FCA2-4ED7-A311-3FE18B08B5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445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1A464-FCA2-4ED7-A311-3FE18B08B5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55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ohamed.abuella@northumbria.ac.u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05882"/>
            <a:ext cx="9100457" cy="97504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Mohamed Abuella¹, Adib Allahham¹, Sara Louise Walker²</a:t>
            </a:r>
          </a:p>
          <a:p>
            <a:pPr marL="0" indent="0" algn="ctr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¹ Northumbria University, UK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² University of Birmingham, UK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8597059-FB82-102E-B633-51B60B9C53CD}"/>
              </a:ext>
            </a:extLst>
          </p:cNvPr>
          <p:cNvSpPr txBox="1">
            <a:spLocks/>
          </p:cNvSpPr>
          <p:nvPr/>
        </p:nvSpPr>
        <p:spPr>
          <a:xfrm>
            <a:off x="-2" y="256014"/>
            <a:ext cx="9144002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9th International Conference on Environment Friendly Energies and Applications </a:t>
            </a:r>
          </a:p>
          <a:p>
            <a:pPr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EFEA 2025, Newcastle upon Tyne, UK.  4-5 December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84DC3-E296-87E4-A48E-839E1C4DB904}"/>
              </a:ext>
            </a:extLst>
          </p:cNvPr>
          <p:cNvSpPr txBox="1"/>
          <p:nvPr/>
        </p:nvSpPr>
        <p:spPr>
          <a:xfrm>
            <a:off x="0" y="1094214"/>
            <a:ext cx="1667069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ID:40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32540-70C3-F230-74F2-3E335C495B03}"/>
              </a:ext>
            </a:extLst>
          </p:cNvPr>
          <p:cNvSpPr txBox="1"/>
          <p:nvPr/>
        </p:nvSpPr>
        <p:spPr>
          <a:xfrm>
            <a:off x="0" y="1718698"/>
            <a:ext cx="914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Socio‑Technical, Electrification, and Hydrogen‑Driven Pathways for Residential Heating Decarbonisation in the North of Tyne</a:t>
            </a:r>
          </a:p>
          <a:p>
            <a:pPr marL="0" indent="0" algn="ctr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7B184AB-E346-01E1-9CFA-BF0DD1265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4" y="5732653"/>
            <a:ext cx="1946988" cy="788723"/>
          </a:xfrm>
          <a:prstGeom prst="rect">
            <a:avLst/>
          </a:prstGeom>
        </p:spPr>
      </p:pic>
      <p:pic>
        <p:nvPicPr>
          <p:cNvPr id="11" name="Picture 10" descr="A logo with purple letters&#10;&#10;AI-generated content may be incorrect.">
            <a:extLst>
              <a:ext uri="{FF2B5EF4-FFF2-40B4-BE49-F238E27FC236}">
                <a16:creationId xmlns:a16="http://schemas.microsoft.com/office/drawing/2014/main" id="{785B9FB3-4991-12ED-E53A-81D41200B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612" y="5732653"/>
            <a:ext cx="2088404" cy="8567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3286" y="877625"/>
            <a:ext cx="1360714" cy="36933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C226A-9EC0-2DB2-D002-2397159ED29D}"/>
              </a:ext>
            </a:extLst>
          </p:cNvPr>
          <p:cNvSpPr txBox="1"/>
          <p:nvPr/>
        </p:nvSpPr>
        <p:spPr>
          <a:xfrm>
            <a:off x="1" y="421207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 Pathways for Residential Heating, North of Tyne – EFEA 2025</a:t>
            </a:r>
          </a:p>
        </p:txBody>
      </p:sp>
      <p:pic>
        <p:nvPicPr>
          <p:cNvPr id="9" name="Picture 8" descr="A graph showing the price of electricity&#10;&#10;AI-generated content may be incorrect.">
            <a:extLst>
              <a:ext uri="{FF2B5EF4-FFF2-40B4-BE49-F238E27FC236}">
                <a16:creationId xmlns:a16="http://schemas.microsoft.com/office/drawing/2014/main" id="{01B1F530-1F29-2E96-A6ED-9DB4084CC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511" y="1677597"/>
            <a:ext cx="4049487" cy="3502806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-2" y="933251"/>
            <a:ext cx="5094513" cy="2365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Objectives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Assess socio‑technical interventions</a:t>
            </a:r>
          </a:p>
          <a:p>
            <a:pPr marL="0" indent="0">
              <a:lnSpc>
                <a:spcPct val="150000"/>
              </a:lnSpc>
              <a:buFont typeface="Arial"/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heat pump and hydrogen boiler uptake</a:t>
            </a:r>
          </a:p>
          <a:p>
            <a:pPr marL="0" indent="0">
              <a:lnSpc>
                <a:spcPct val="150000"/>
              </a:lnSpc>
              <a:buFont typeface="Arial"/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Analyse hydrogen blending impacts</a:t>
            </a:r>
          </a:p>
          <a:p>
            <a:pPr marL="0" indent="0">
              <a:lnSpc>
                <a:spcPct val="150000"/>
              </a:lnSpc>
              <a:buFont typeface="Arial"/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investment and system efficiency pathways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24B470-B08D-4BA0-C893-9C884D9A4E17}"/>
              </a:ext>
            </a:extLst>
          </p:cNvPr>
          <p:cNvSpPr txBox="1"/>
          <p:nvPr/>
        </p:nvSpPr>
        <p:spPr>
          <a:xfrm>
            <a:off x="3744685" y="5373896"/>
            <a:ext cx="5399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same technology but depending on where you live.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So, we cannot follow a single blueprint!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3951"/>
            <a:ext cx="6190900" cy="13420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of Tyne (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85% of UK homes use natural gas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consumed 17.3 TWh gas (2018)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fuel poverty and ageing housing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for coordinated, low‑carbon strategies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43DEF-A6A4-672E-4107-7A99B17F5084}"/>
              </a:ext>
            </a:extLst>
          </p:cNvPr>
          <p:cNvSpPr txBox="1"/>
          <p:nvPr/>
        </p:nvSpPr>
        <p:spPr>
          <a:xfrm>
            <a:off x="1" y="421207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 Pathways for Residential Heating, North of Tyne – EFEA 2025</a:t>
            </a:r>
          </a:p>
        </p:txBody>
      </p:sp>
      <p:pic>
        <p:nvPicPr>
          <p:cNvPr id="8" name="Picture 7" descr="A map of england with a red location&#10;&#10;Description automatically generated">
            <a:extLst>
              <a:ext uri="{FF2B5EF4-FFF2-40B4-BE49-F238E27FC236}">
                <a16:creationId xmlns:a16="http://schemas.microsoft.com/office/drawing/2014/main" id="{B554915E-472F-9617-0CE4-DC6FC7D88A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165" y="1414905"/>
            <a:ext cx="1651717" cy="17263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53F443-2B26-4C55-0369-13B3A4A1BF0E}"/>
              </a:ext>
            </a:extLst>
          </p:cNvPr>
          <p:cNvSpPr/>
          <p:nvPr/>
        </p:nvSpPr>
        <p:spPr>
          <a:xfrm>
            <a:off x="-25332" y="5885179"/>
            <a:ext cx="4014343" cy="281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Profile of Total Electricity Demand for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2019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F01EA-9B74-9A2F-67A8-B070442166D9}"/>
              </a:ext>
            </a:extLst>
          </p:cNvPr>
          <p:cNvSpPr/>
          <p:nvPr/>
        </p:nvSpPr>
        <p:spPr>
          <a:xfrm>
            <a:off x="5766" y="2413016"/>
            <a:ext cx="745640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Overview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coldest day in November 2019 as a baseline to model peak demand.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day saw total consumption of 31 GWh, with gas (24 GWh) significantly outpacing electricity (7 GWh).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4008FA-004D-80B7-3FEB-D6D00C2B3099}"/>
              </a:ext>
            </a:extLst>
          </p:cNvPr>
          <p:cNvSpPr/>
          <p:nvPr/>
        </p:nvSpPr>
        <p:spPr>
          <a:xfrm>
            <a:off x="5228747" y="5866516"/>
            <a:ext cx="38924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Profile of Total Gas Demand for </a:t>
            </a:r>
            <a:r>
              <a:rPr lang="en-GB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2019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EC3ACD-DA3F-E25C-5E2F-9DCD988CD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74" y="3877122"/>
            <a:ext cx="3993185" cy="20753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B8DC80-970F-7321-6A14-EA37F86A0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746" y="3869590"/>
            <a:ext cx="3892419" cy="20711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5B3F3B-2143-5F17-B55C-F0A277D05F76}"/>
              </a:ext>
            </a:extLst>
          </p:cNvPr>
          <p:cNvSpPr txBox="1"/>
          <p:nvPr/>
        </p:nvSpPr>
        <p:spPr>
          <a:xfrm>
            <a:off x="7308980" y="3141303"/>
            <a:ext cx="18184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of Tyne (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E5E6184-1577-EAF9-7724-1D110F3E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3286" y="877625"/>
            <a:ext cx="1360714" cy="36933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924" y="910977"/>
            <a:ext cx="3553471" cy="9233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Bi-level optimisation framework: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layer for long-term planning,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layer for short-term operation.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6D6C0F5-1DC4-0CCE-688D-A3AC9F8E1B19}"/>
              </a:ext>
            </a:extLst>
          </p:cNvPr>
          <p:cNvSpPr txBox="1">
            <a:spLocks/>
          </p:cNvSpPr>
          <p:nvPr/>
        </p:nvSpPr>
        <p:spPr>
          <a:xfrm>
            <a:off x="7362395" y="877625"/>
            <a:ext cx="178160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91C739-1008-BCEE-7B1D-4F3568D748B8}"/>
              </a:ext>
            </a:extLst>
          </p:cNvPr>
          <p:cNvSpPr txBox="1"/>
          <p:nvPr/>
        </p:nvSpPr>
        <p:spPr>
          <a:xfrm>
            <a:off x="1" y="421207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 Pathways for Residential Heating, North of Tyne – EFEA 2025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2A1778-89EB-B698-8EA3-C93CC3832329}"/>
              </a:ext>
            </a:extLst>
          </p:cNvPr>
          <p:cNvGrpSpPr/>
          <p:nvPr/>
        </p:nvGrpSpPr>
        <p:grpSpPr>
          <a:xfrm>
            <a:off x="55715" y="2794286"/>
            <a:ext cx="5585927" cy="3407254"/>
            <a:chOff x="182955" y="2689302"/>
            <a:chExt cx="5820678" cy="3625249"/>
          </a:xfrm>
        </p:grpSpPr>
        <p:pic>
          <p:nvPicPr>
            <p:cNvPr id="4" name="Picture 3" descr="A diagram of a power plant&#10;&#10;AI-generated content may be incorrect.">
              <a:extLst>
                <a:ext uri="{FF2B5EF4-FFF2-40B4-BE49-F238E27FC236}">
                  <a16:creationId xmlns:a16="http://schemas.microsoft.com/office/drawing/2014/main" id="{DFC5C19C-D865-1BAD-D60D-4C9C19B90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956" y="2689302"/>
              <a:ext cx="5820677" cy="325724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7027B5-3832-F65D-961A-3AB6BC17EECD}"/>
                </a:ext>
              </a:extLst>
            </p:cNvPr>
            <p:cNvSpPr txBox="1"/>
            <p:nvPr/>
          </p:nvSpPr>
          <p:spPr>
            <a:xfrm>
              <a:off x="182955" y="5975997"/>
              <a:ext cx="582067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Integrated multi-vector energy system framework for </a:t>
              </a:r>
              <a:r>
                <a:rPr lang="en-GB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NoT</a:t>
              </a:r>
              <a:r>
                <a:rPr lang="en-GB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region</a:t>
              </a:r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9FFCA1-5738-9354-0F1D-D91B15877707}"/>
                  </a:ext>
                </a:extLst>
              </p:cNvPr>
              <p:cNvSpPr txBox="1"/>
              <p:nvPr/>
            </p:nvSpPr>
            <p:spPr>
              <a:xfrm>
                <a:off x="3808924" y="1879255"/>
                <a:ext cx="3665434" cy="3781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𝑁𝑃𝑉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∑"/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d>
                              <m:dPr>
                                <m:ctrlPr>
                                  <a:rPr lang="pt-B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𝐹𝐶</m:t>
                            </m:r>
                            <m:r>
                              <a:rPr lang="pt-BR" sz="16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-NI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9FFCA1-5738-9354-0F1D-D91B15877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924" y="1879255"/>
                <a:ext cx="3665434" cy="378117"/>
              </a:xfrm>
              <a:prstGeom prst="rect">
                <a:avLst/>
              </a:prstGeom>
              <a:blipFill>
                <a:blip r:embed="rId3"/>
                <a:stretch>
                  <a:fillRect l="-1997" t="-77419" b="-1629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3CE0C792-07E7-5742-DEB9-23B679871799}"/>
              </a:ext>
            </a:extLst>
          </p:cNvPr>
          <p:cNvGrpSpPr/>
          <p:nvPr/>
        </p:nvGrpSpPr>
        <p:grpSpPr>
          <a:xfrm>
            <a:off x="6632811" y="1334043"/>
            <a:ext cx="2455474" cy="5265642"/>
            <a:chOff x="6632811" y="1334043"/>
            <a:chExt cx="2455474" cy="5265642"/>
          </a:xfrm>
        </p:grpSpPr>
        <p:pic>
          <p:nvPicPr>
            <p:cNvPr id="8" name="Picture 7" descr="A black and white rectangular sign&#10;&#10;AI-generated content may be incorrect.">
              <a:extLst>
                <a:ext uri="{FF2B5EF4-FFF2-40B4-BE49-F238E27FC236}">
                  <a16:creationId xmlns:a16="http://schemas.microsoft.com/office/drawing/2014/main" id="{14F73E0F-F6EF-E43A-1C2F-174A25FAB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3236" y="1334043"/>
              <a:ext cx="1935049" cy="465533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35D1A9-6FC5-8E46-1A37-34237F6C9923}"/>
                </a:ext>
              </a:extLst>
            </p:cNvPr>
            <p:cNvSpPr txBox="1"/>
            <p:nvPr/>
          </p:nvSpPr>
          <p:spPr>
            <a:xfrm>
              <a:off x="6632811" y="6076465"/>
              <a:ext cx="245547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GTM framework for integrated energy system planning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14E9E91-659B-F4FD-9FF4-F1DDE5974D45}"/>
              </a:ext>
            </a:extLst>
          </p:cNvPr>
          <p:cNvSpPr txBox="1"/>
          <p:nvPr/>
        </p:nvSpPr>
        <p:spPr>
          <a:xfrm>
            <a:off x="0" y="923791"/>
            <a:ext cx="3309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multi‑vector system: Electricity, gas, and hydrogen.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55221A-A1D2-54D8-6009-C65E210138DF}"/>
                  </a:ext>
                </a:extLst>
              </p:cNvPr>
              <p:cNvSpPr txBox="1"/>
              <p:nvPr/>
            </p:nvSpPr>
            <p:spPr>
              <a:xfrm>
                <a:off x="5245482" y="2315969"/>
                <a:ext cx="1882233" cy="1565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Net</m:t>
                      </m:r>
                      <m:r>
                        <m:rPr>
                          <m:nor/>
                        </m:rP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present</m:t>
                      </m:r>
                      <m:r>
                        <m:rPr>
                          <m:nor/>
                        </m:rP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value</m:t>
                      </m:r>
                    </m:oMath>
                  </m:oMathPara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Revenu</m:t>
                      </m:r>
                      <m:r>
                        <m:rPr>
                          <m:nor/>
                        </m:rPr>
                        <a:rPr lang="en-GB" sz="1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GB" sz="1200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ariable</m:t>
                      </m:r>
                      <m:r>
                        <m:rPr>
                          <m:nor/>
                        </m:rPr>
                        <a:rPr lang="en-GB" sz="12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2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operation</m:t>
                      </m:r>
                      <m:r>
                        <m:rPr>
                          <m:nor/>
                        </m:rPr>
                        <a:rPr lang="en-GB" sz="12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ost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GB" sz="1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𝐹𝐶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2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Fixed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cost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𝐴𝐹</m:t>
                      </m:r>
                      <m:r>
                        <a:rPr lang="en-GB" sz="12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GB" sz="1200" b="0" i="0" smtClean="0">
                          <a:latin typeface="Cambria Math" panose="02040503050406030204" pitchFamily="18" charset="0"/>
                        </a:rPr>
                        <m:t>Annuity</m:t>
                      </m:r>
                      <m:r>
                        <a:rPr lang="en-GB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200" b="0" i="0" smtClean="0">
                          <a:latin typeface="Cambria Math" panose="02040503050406030204" pitchFamily="18" charset="0"/>
                        </a:rPr>
                        <m:t>factor</m:t>
                      </m:r>
                      <m:r>
                        <a:rPr lang="en-GB" sz="12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GB" sz="1200" b="0" i="0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𝑁𝐼</m:t>
                      </m:r>
                      <m:r>
                        <m:rPr>
                          <m:nor/>
                        </m:rPr>
                        <a:rPr lang="en-GB" sz="1200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Net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investment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outlays</m:t>
                      </m:r>
                    </m:oMath>
                  </m:oMathPara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55221A-A1D2-54D8-6009-C65E21013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482" y="2315969"/>
                <a:ext cx="1882233" cy="1565429"/>
              </a:xfrm>
              <a:prstGeom prst="rect">
                <a:avLst/>
              </a:prstGeom>
              <a:blipFill>
                <a:blip r:embed="rId5"/>
                <a:stretch>
                  <a:fillRect b="-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F216E2B-864A-1224-E1F5-4B72628D1F6C}"/>
              </a:ext>
            </a:extLst>
          </p:cNvPr>
          <p:cNvSpPr txBox="1"/>
          <p:nvPr/>
        </p:nvSpPr>
        <p:spPr>
          <a:xfrm>
            <a:off x="19079" y="1704472"/>
            <a:ext cx="29857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Coupling units provide system flexibility via multi-vector conversion and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20650-44AD-2E6E-62D0-D86EE744C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1F69329-18E3-48D2-8451-D501F4492662}"/>
              </a:ext>
            </a:extLst>
          </p:cNvPr>
          <p:cNvSpPr txBox="1"/>
          <p:nvPr/>
        </p:nvSpPr>
        <p:spPr>
          <a:xfrm>
            <a:off x="1" y="421207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 Pathways for Residential Heating, North of Tyne – EFEA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26BBB8-C09B-E611-DA45-0EFD01E8BE0D}"/>
              </a:ext>
            </a:extLst>
          </p:cNvPr>
          <p:cNvSpPr/>
          <p:nvPr/>
        </p:nvSpPr>
        <p:spPr>
          <a:xfrm>
            <a:off x="1" y="1365241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literature, we evaluate how social-based interventions impact electricity and gas demand profiles in North of Tyne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region.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2CD84D-697A-29AD-6DDA-4E1E538A8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092004"/>
              </p:ext>
            </p:extLst>
          </p:nvPr>
        </p:nvGraphicFramePr>
        <p:xfrm>
          <a:off x="1102126" y="2660963"/>
          <a:ext cx="6988550" cy="3200400"/>
        </p:xfrm>
        <a:graphic>
          <a:graphicData uri="http://schemas.openxmlformats.org/drawingml/2006/table">
            <a:tbl>
              <a:tblPr firstRow="1" firstCol="1" bandRow="1">
                <a:tableStyleId>{46F890A9-2807-4EBB-B81D-B2AA78EC7F39}</a:tableStyleId>
              </a:tblPr>
              <a:tblGrid>
                <a:gridCol w="862070">
                  <a:extLst>
                    <a:ext uri="{9D8B030D-6E8A-4147-A177-3AD203B41FA5}">
                      <a16:colId xmlns:a16="http://schemas.microsoft.com/office/drawing/2014/main" val="136269933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9733023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74499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01011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Intervention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 on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Gas Demand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 on Electricity Demand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23291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Decreasing the heating set point by 2°C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 decrease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effect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72725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the whole building insulation level similar to </a:t>
                      </a:r>
                      <a:r>
                        <a:rPr lang="en-GB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Passivhaus</a:t>
                      </a: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standards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77% decrease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effect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2944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 start of heating from October to November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5.5% decrease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effect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6874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of radiator valves to turn off heating in unoccupied rooms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 decrease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effect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87268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of heat pumps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 decrease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14% increase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95258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of hydrogen boilers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 decrease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effect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2674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7714C61-97AA-F9F1-A7BD-CFDAD1106C21}"/>
              </a:ext>
            </a:extLst>
          </p:cNvPr>
          <p:cNvSpPr/>
          <p:nvPr/>
        </p:nvSpPr>
        <p:spPr>
          <a:xfrm>
            <a:off x="2" y="2283557"/>
            <a:ext cx="91439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Social and Technical Interventions (STIs) of Residential Heating 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DBEFE1-9DC0-D9E5-0BF3-A2C5F965DFD1}"/>
              </a:ext>
            </a:extLst>
          </p:cNvPr>
          <p:cNvSpPr txBox="1">
            <a:spLocks/>
          </p:cNvSpPr>
          <p:nvPr/>
        </p:nvSpPr>
        <p:spPr>
          <a:xfrm>
            <a:off x="2" y="936767"/>
            <a:ext cx="4386727" cy="3693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and Technical  Interventions (STI)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32C08A3-3A59-9851-44AA-446DE4B3B803}"/>
              </a:ext>
            </a:extLst>
          </p:cNvPr>
          <p:cNvSpPr txBox="1">
            <a:spLocks/>
          </p:cNvSpPr>
          <p:nvPr/>
        </p:nvSpPr>
        <p:spPr>
          <a:xfrm>
            <a:off x="7362395" y="877625"/>
            <a:ext cx="178160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68177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14793-FAFA-58AD-C25D-29EA698C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A104169-42F8-42C0-3B34-CCD6FCE1E34E}"/>
              </a:ext>
            </a:extLst>
          </p:cNvPr>
          <p:cNvGrpSpPr/>
          <p:nvPr/>
        </p:nvGrpSpPr>
        <p:grpSpPr>
          <a:xfrm>
            <a:off x="185219" y="3313896"/>
            <a:ext cx="5985358" cy="1862185"/>
            <a:chOff x="980457" y="3086700"/>
            <a:chExt cx="5576431" cy="1719030"/>
          </a:xfrm>
        </p:grpSpPr>
        <p:pic>
          <p:nvPicPr>
            <p:cNvPr id="4" name="Picture 3" descr="A graph showing a line of a graph&#10;&#10;AI-generated content may be incorrect.">
              <a:extLst>
                <a:ext uri="{FF2B5EF4-FFF2-40B4-BE49-F238E27FC236}">
                  <a16:creationId xmlns:a16="http://schemas.microsoft.com/office/drawing/2014/main" id="{54209439-8D3B-481F-B950-076D9B80D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0457" y="3086700"/>
              <a:ext cx="2449563" cy="1469739"/>
            </a:xfrm>
            <a:prstGeom prst="rect">
              <a:avLst/>
            </a:prstGeom>
          </p:spPr>
        </p:pic>
        <p:pic>
          <p:nvPicPr>
            <p:cNvPr id="6" name="Picture 5" descr="A graph with a line graph&#10;&#10;AI-generated content may be incorrect.">
              <a:extLst>
                <a:ext uri="{FF2B5EF4-FFF2-40B4-BE49-F238E27FC236}">
                  <a16:creationId xmlns:a16="http://schemas.microsoft.com/office/drawing/2014/main" id="{52884F00-5CFB-8BE3-FAE9-880E3DC2C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7326" y="3116975"/>
              <a:ext cx="2449562" cy="146973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B14658-A4CA-3F89-F628-25E87D41F445}"/>
                </a:ext>
              </a:extLst>
            </p:cNvPr>
            <p:cNvSpPr/>
            <p:nvPr/>
          </p:nvSpPr>
          <p:spPr>
            <a:xfrm>
              <a:off x="1890252" y="4525393"/>
              <a:ext cx="917298" cy="255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Gas Demand</a:t>
              </a:r>
              <a:endParaRPr lang="en-US" sz="12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2B1C87-C577-9A82-2425-8E37654143C5}"/>
                </a:ext>
              </a:extLst>
            </p:cNvPr>
            <p:cNvSpPr/>
            <p:nvPr/>
          </p:nvSpPr>
          <p:spPr>
            <a:xfrm>
              <a:off x="4749255" y="4550025"/>
              <a:ext cx="1296643" cy="255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Electricity Demand</a:t>
              </a:r>
              <a:endParaRPr lang="en-US" sz="12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C7C414-4B57-5ADC-3C41-8D78E91DBAE8}"/>
              </a:ext>
            </a:extLst>
          </p:cNvPr>
          <p:cNvSpPr txBox="1"/>
          <p:nvPr/>
        </p:nvSpPr>
        <p:spPr>
          <a:xfrm>
            <a:off x="1" y="421207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 Pathways for Residential Heating, North of Tyne – EFEA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46" y="1984537"/>
            <a:ext cx="3723953" cy="950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3" indent="-4763" algn="just">
              <a:lnSpc>
                <a:spcPct val="105000"/>
              </a:lnSpc>
              <a:spcAft>
                <a:spcPts val="1279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Let </a:t>
            </a:r>
            <a:r>
              <a:rPr lang="en-US" sz="1350" i="1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</a:t>
            </a:r>
            <a:r>
              <a:rPr lang="en-US" sz="135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0 </a:t>
            </a: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</a:t>
            </a:r>
            <a:r>
              <a:rPr lang="en-US" sz="1350" i="1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</a:t>
            </a:r>
            <a:r>
              <a:rPr lang="en-US" sz="135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0 </a:t>
            </a: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represent the baseline gas and electricity demands, respectively. The adjusted demands </a:t>
            </a:r>
            <a:r>
              <a:rPr lang="en-US" sz="1350" i="1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 </a:t>
            </a: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</a:t>
            </a:r>
            <a:r>
              <a:rPr lang="en-US" sz="1350" i="1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 </a:t>
            </a: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after applying a random intervention </a:t>
            </a:r>
            <a:r>
              <a:rPr lang="en-US" sz="135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US" sz="135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</a:t>
            </a:r>
            <a:r>
              <a:rPr lang="en-US" sz="135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2" y="5295020"/>
            <a:ext cx="6810401" cy="58477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Monte Carlo simulation of heating interventions indicates a noticeable reduction in gas demand, with only a marginal increase in electricity demand.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166" y="1976488"/>
            <a:ext cx="2448476" cy="11633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rot="10800000" flipV="1">
            <a:off x="6613176" y="6148328"/>
            <a:ext cx="253082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for Social and Technical Interventions of Heating Demand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2C381-568D-7071-6919-7CC5FDBE319D}"/>
              </a:ext>
            </a:extLst>
          </p:cNvPr>
          <p:cNvSpPr txBox="1">
            <a:spLocks/>
          </p:cNvSpPr>
          <p:nvPr/>
        </p:nvSpPr>
        <p:spPr>
          <a:xfrm>
            <a:off x="0" y="837737"/>
            <a:ext cx="2973423" cy="3693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4062B5-674E-64FB-D36B-98FC77DAF16C}"/>
              </a:ext>
            </a:extLst>
          </p:cNvPr>
          <p:cNvSpPr txBox="1">
            <a:spLocks/>
          </p:cNvSpPr>
          <p:nvPr/>
        </p:nvSpPr>
        <p:spPr>
          <a:xfrm>
            <a:off x="7362395" y="877625"/>
            <a:ext cx="178160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C8CFC9-29F6-51C5-6690-D3F3EBCB7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143" y="1305559"/>
            <a:ext cx="2306610" cy="48985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08ACC5-CDDB-6C6B-4032-7254F6A9012C}"/>
              </a:ext>
            </a:extLst>
          </p:cNvPr>
          <p:cNvSpPr txBox="1"/>
          <p:nvPr/>
        </p:nvSpPr>
        <p:spPr>
          <a:xfrm>
            <a:off x="-5479" y="1168509"/>
            <a:ext cx="6573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applied Monte Carlo simulation for the social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echnical Interventions (STI) to simulate their impacts 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emand profiles.</a:t>
            </a:r>
          </a:p>
        </p:txBody>
      </p:sp>
    </p:spTree>
    <p:extLst>
      <p:ext uri="{BB962C8B-B14F-4D97-AF65-F5344CB8AC3E}">
        <p14:creationId xmlns:p14="http://schemas.microsoft.com/office/powerpoint/2010/main" val="142031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985891"/>
            <a:ext cx="6819940" cy="3449260"/>
          </a:xfrm>
        </p:spPr>
        <p:txBody>
          <a:bodyPr>
            <a:noAutofit/>
          </a:bodyPr>
          <a:lstStyle/>
          <a:p>
            <a:pPr marL="176213" indent="-176213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Blending: </a:t>
            </a:r>
          </a:p>
          <a:p>
            <a:pPr marL="265113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No hydrogen; natural-gas baseline – (0%)</a:t>
            </a:r>
          </a:p>
          <a:p>
            <a:pPr marL="265113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Partial blend; low-disruption transition – (20%) </a:t>
            </a:r>
          </a:p>
          <a:p>
            <a:pPr marL="265113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Full hydrogen conversion; major network change – (100%)</a:t>
            </a:r>
          </a:p>
          <a:p>
            <a:pPr marL="265113" indent="0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213" indent="-176213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Heating Technologies: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113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Socio-technological interventions – (STI)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113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50% heat pumps (HP) and 50% hydrogen (HB) – (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50/50 HP–HB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113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100% heat pumps – (1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00% HP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113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100% hydrogen boilers – (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HB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3B10A-0BC6-92B5-062D-B2DCCEBB8927}"/>
              </a:ext>
            </a:extLst>
          </p:cNvPr>
          <p:cNvSpPr txBox="1"/>
          <p:nvPr/>
        </p:nvSpPr>
        <p:spPr>
          <a:xfrm>
            <a:off x="1" y="421207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 Pathways for Residential Heating, North of Tyne – EFEA 2025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ED9EE8-FE26-161A-3D3B-6E7DC9E53921}"/>
              </a:ext>
            </a:extLst>
          </p:cNvPr>
          <p:cNvSpPr txBox="1">
            <a:spLocks/>
          </p:cNvSpPr>
          <p:nvPr/>
        </p:nvSpPr>
        <p:spPr>
          <a:xfrm>
            <a:off x="7521677" y="877625"/>
            <a:ext cx="162232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7DF7C8-1D8C-12DD-CAD4-DB99E1B665FF}"/>
              </a:ext>
            </a:extLst>
          </p:cNvPr>
          <p:cNvGrpSpPr/>
          <p:nvPr/>
        </p:nvGrpSpPr>
        <p:grpSpPr>
          <a:xfrm>
            <a:off x="6671157" y="1322315"/>
            <a:ext cx="2429302" cy="2310012"/>
            <a:chOff x="6494370" y="547340"/>
            <a:chExt cx="2141888" cy="216932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5923401-3967-12BE-9E4D-0E2DD122B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94370" y="547340"/>
              <a:ext cx="2071404" cy="17292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414A5D-BB11-F594-9337-49FC7972F0E7}"/>
                </a:ext>
              </a:extLst>
            </p:cNvPr>
            <p:cNvSpPr txBox="1"/>
            <p:nvPr/>
          </p:nvSpPr>
          <p:spPr>
            <a:xfrm>
              <a:off x="6625550" y="2225309"/>
              <a:ext cx="2010708" cy="491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Electricity Network</a:t>
              </a:r>
            </a:p>
            <a:p>
              <a:pPr algn="ctr"/>
              <a:r>
                <a:rPr lang="en-GB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(Aggregated)</a:t>
              </a:r>
              <a:endPara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FE0EF18-8254-3927-D73E-B249FFDE499D}"/>
              </a:ext>
            </a:extLst>
          </p:cNvPr>
          <p:cNvGrpSpPr/>
          <p:nvPr/>
        </p:nvGrpSpPr>
        <p:grpSpPr>
          <a:xfrm>
            <a:off x="6655515" y="3804041"/>
            <a:ext cx="2488484" cy="2325772"/>
            <a:chOff x="5583835" y="1597589"/>
            <a:chExt cx="6223484" cy="52140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F46288A-988A-218F-45A2-DDADF19E7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49"/>
            <a:stretch/>
          </p:blipFill>
          <p:spPr>
            <a:xfrm>
              <a:off x="6555473" y="1597589"/>
              <a:ext cx="5251846" cy="404106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1E27CF-DD13-AA7A-784C-43284A4B7BDF}"/>
                </a:ext>
              </a:extLst>
            </p:cNvPr>
            <p:cNvSpPr txBox="1"/>
            <p:nvPr/>
          </p:nvSpPr>
          <p:spPr>
            <a:xfrm>
              <a:off x="5583835" y="5638654"/>
              <a:ext cx="6223484" cy="11729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Gas / Hydrogen Network (Aggregated)</a:t>
              </a:r>
              <a:endPara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E0F8D2-7C7E-2316-5B6C-5609AF5086A9}"/>
              </a:ext>
            </a:extLst>
          </p:cNvPr>
          <p:cNvSpPr txBox="1"/>
          <p:nvPr/>
        </p:nvSpPr>
        <p:spPr>
          <a:xfrm>
            <a:off x="1" y="421207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 Pathways for Residential Heating, North of Tyne – EFEA 2025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2724DA-6B96-EA7D-652B-8C2D39B3826B}"/>
              </a:ext>
            </a:extLst>
          </p:cNvPr>
          <p:cNvSpPr txBox="1">
            <a:spLocks/>
          </p:cNvSpPr>
          <p:nvPr/>
        </p:nvSpPr>
        <p:spPr>
          <a:xfrm>
            <a:off x="7993224" y="877625"/>
            <a:ext cx="115077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1477733-CF7D-027D-4DAB-53DCE1745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255793"/>
              </p:ext>
            </p:extLst>
          </p:nvPr>
        </p:nvGraphicFramePr>
        <p:xfrm>
          <a:off x="460039" y="2128853"/>
          <a:ext cx="8223921" cy="1674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6113384"/>
                    </a:ext>
                  </a:extLst>
                </a:gridCol>
                <a:gridCol w="689769">
                  <a:extLst>
                    <a:ext uri="{9D8B030D-6E8A-4147-A177-3AD203B41FA5}">
                      <a16:colId xmlns:a16="http://schemas.microsoft.com/office/drawing/2014/main" val="696183503"/>
                    </a:ext>
                  </a:extLst>
                </a:gridCol>
                <a:gridCol w="689769">
                  <a:extLst>
                    <a:ext uri="{9D8B030D-6E8A-4147-A177-3AD203B41FA5}">
                      <a16:colId xmlns:a16="http://schemas.microsoft.com/office/drawing/2014/main" val="3270003792"/>
                    </a:ext>
                  </a:extLst>
                </a:gridCol>
                <a:gridCol w="689769">
                  <a:extLst>
                    <a:ext uri="{9D8B030D-6E8A-4147-A177-3AD203B41FA5}">
                      <a16:colId xmlns:a16="http://schemas.microsoft.com/office/drawing/2014/main" val="549766629"/>
                    </a:ext>
                  </a:extLst>
                </a:gridCol>
                <a:gridCol w="689769">
                  <a:extLst>
                    <a:ext uri="{9D8B030D-6E8A-4147-A177-3AD203B41FA5}">
                      <a16:colId xmlns:a16="http://schemas.microsoft.com/office/drawing/2014/main" val="3614176142"/>
                    </a:ext>
                  </a:extLst>
                </a:gridCol>
                <a:gridCol w="689769">
                  <a:extLst>
                    <a:ext uri="{9D8B030D-6E8A-4147-A177-3AD203B41FA5}">
                      <a16:colId xmlns:a16="http://schemas.microsoft.com/office/drawing/2014/main" val="3094732940"/>
                    </a:ext>
                  </a:extLst>
                </a:gridCol>
                <a:gridCol w="689769">
                  <a:extLst>
                    <a:ext uri="{9D8B030D-6E8A-4147-A177-3AD203B41FA5}">
                      <a16:colId xmlns:a16="http://schemas.microsoft.com/office/drawing/2014/main" val="3602382658"/>
                    </a:ext>
                  </a:extLst>
                </a:gridCol>
                <a:gridCol w="689769">
                  <a:extLst>
                    <a:ext uri="{9D8B030D-6E8A-4147-A177-3AD203B41FA5}">
                      <a16:colId xmlns:a16="http://schemas.microsoft.com/office/drawing/2014/main" val="1548244837"/>
                    </a:ext>
                  </a:extLst>
                </a:gridCol>
                <a:gridCol w="689769">
                  <a:extLst>
                    <a:ext uri="{9D8B030D-6E8A-4147-A177-3AD203B41FA5}">
                      <a16:colId xmlns:a16="http://schemas.microsoft.com/office/drawing/2014/main" val="231336748"/>
                    </a:ext>
                  </a:extLst>
                </a:gridCol>
                <a:gridCol w="689769">
                  <a:extLst>
                    <a:ext uri="{9D8B030D-6E8A-4147-A177-3AD203B41FA5}">
                      <a16:colId xmlns:a16="http://schemas.microsoft.com/office/drawing/2014/main" val="52007903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Hydrogen  Blending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 H₂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 H₂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H₂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56057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 / Metric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Opex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Emis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NPV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Opex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Emis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NPV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Opex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Emis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NPV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10216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865286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50/50 HB &amp; HP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29633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HP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7589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HB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2968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8BEA5CD-90D4-8605-549F-AF5374CF3E66}"/>
              </a:ext>
            </a:extLst>
          </p:cNvPr>
          <p:cNvSpPr txBox="1"/>
          <p:nvPr/>
        </p:nvSpPr>
        <p:spPr>
          <a:xfrm>
            <a:off x="1" y="1308851"/>
            <a:ext cx="9167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cost 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Opex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million £/day), emissions, (tonnes CO2/day), and net present value (NPV, million £) for peak demand in 2050 (full CCS deployment).                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CCS=Carbon Capture and Storage.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78062-B5D1-3761-5F13-84F718A9D2E8}"/>
              </a:ext>
            </a:extLst>
          </p:cNvPr>
          <p:cNvSpPr txBox="1"/>
          <p:nvPr/>
        </p:nvSpPr>
        <p:spPr>
          <a:xfrm>
            <a:off x="3131730" y="3941423"/>
            <a:ext cx="6012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Pump with COP=3</a:t>
            </a:r>
          </a:p>
          <a:p>
            <a:pPr algn="r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Prices: Electricity=125£/MWh, Natural gas= 37£/MWh, Hydrogen = 75£/MWh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45565-58D4-9F87-5B85-E9BBC5404869}"/>
              </a:ext>
            </a:extLst>
          </p:cNvPr>
          <p:cNvSpPr txBox="1"/>
          <p:nvPr/>
        </p:nvSpPr>
        <p:spPr>
          <a:xfrm>
            <a:off x="2" y="3941423"/>
            <a:ext cx="30181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STI: Socio-Technological Interventions </a:t>
            </a:r>
          </a:p>
          <a:p>
            <a:pPr indent="0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HP: Heat Pumps</a:t>
            </a:r>
          </a:p>
          <a:p>
            <a:pPr indent="0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HB: Hydrogen Boilers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6042C-2ABE-5378-CE87-48B8A139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3CAF3E-7882-3B89-7243-6779E81C1BEE}"/>
              </a:ext>
            </a:extLst>
          </p:cNvPr>
          <p:cNvSpPr txBox="1"/>
          <p:nvPr/>
        </p:nvSpPr>
        <p:spPr>
          <a:xfrm>
            <a:off x="1" y="421207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 Pathways for Residential Heating, North of Tyne – EFEA 2025</a:t>
            </a:r>
          </a:p>
        </p:txBody>
      </p:sp>
      <p:pic>
        <p:nvPicPr>
          <p:cNvPr id="21" name="Picture 20" descr="A graph of energy mix and co2 emissions&#10;&#10;AI-generated content may be incorrect.">
            <a:extLst>
              <a:ext uri="{FF2B5EF4-FFF2-40B4-BE49-F238E27FC236}">
                <a16:creationId xmlns:a16="http://schemas.microsoft.com/office/drawing/2014/main" id="{6A135453-ACDD-F047-6776-03FE840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" y="1398970"/>
            <a:ext cx="4488400" cy="2244200"/>
          </a:xfrm>
          <a:prstGeom prst="rect">
            <a:avLst/>
          </a:prstGeom>
        </p:spPr>
      </p:pic>
      <p:pic>
        <p:nvPicPr>
          <p:cNvPr id="22" name="Picture 21" descr="A graph of energy and emission&#10;&#10;AI-generated content may be incorrect.">
            <a:extLst>
              <a:ext uri="{FF2B5EF4-FFF2-40B4-BE49-F238E27FC236}">
                <a16:creationId xmlns:a16="http://schemas.microsoft.com/office/drawing/2014/main" id="{4EC9E302-DEE4-7655-E298-3DABC517A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601" y="1398972"/>
            <a:ext cx="4488393" cy="2244197"/>
          </a:xfrm>
          <a:prstGeom prst="rect">
            <a:avLst/>
          </a:prstGeom>
        </p:spPr>
      </p:pic>
      <p:pic>
        <p:nvPicPr>
          <p:cNvPr id="23" name="Picture 22" descr="A graph of energy and co2 emissions&#10;&#10;AI-generated content may be incorrect.">
            <a:extLst>
              <a:ext uri="{FF2B5EF4-FFF2-40B4-BE49-F238E27FC236}">
                <a16:creationId xmlns:a16="http://schemas.microsoft.com/office/drawing/2014/main" id="{33778E4E-AEA1-57B8-2558-D29DEFCF4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" y="4012392"/>
            <a:ext cx="4488412" cy="2244206"/>
          </a:xfrm>
          <a:prstGeom prst="rect">
            <a:avLst/>
          </a:prstGeom>
        </p:spPr>
      </p:pic>
      <p:pic>
        <p:nvPicPr>
          <p:cNvPr id="24" name="Picture 23" descr="A graph of energy and emission&#10;&#10;AI-generated content may be incorrect.">
            <a:extLst>
              <a:ext uri="{FF2B5EF4-FFF2-40B4-BE49-F238E27FC236}">
                <a16:creationId xmlns:a16="http://schemas.microsoft.com/office/drawing/2014/main" id="{D59CC73B-0F50-5482-AE31-AB13BAE48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5580" y="4012392"/>
            <a:ext cx="4488413" cy="224420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B7C662B-F387-D788-3699-4C2DBE9B1E4C}"/>
              </a:ext>
            </a:extLst>
          </p:cNvPr>
          <p:cNvSpPr txBox="1"/>
          <p:nvPr/>
        </p:nvSpPr>
        <p:spPr>
          <a:xfrm>
            <a:off x="6" y="3643060"/>
            <a:ext cx="4488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Socio-technological interventions (STI)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FB56AB-0060-B1BA-B4A2-28CC92D1239D}"/>
              </a:ext>
            </a:extLst>
          </p:cNvPr>
          <p:cNvSpPr txBox="1"/>
          <p:nvPr/>
        </p:nvSpPr>
        <p:spPr>
          <a:xfrm>
            <a:off x="4655608" y="3646328"/>
            <a:ext cx="4488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50% heat pumps and 50% hydrogen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C3F0A4-B485-8904-ECFD-DCC0789F7F5F}"/>
              </a:ext>
            </a:extLst>
          </p:cNvPr>
          <p:cNvSpPr txBox="1"/>
          <p:nvPr/>
        </p:nvSpPr>
        <p:spPr>
          <a:xfrm>
            <a:off x="-2" y="6216232"/>
            <a:ext cx="4488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100% heat pumps (100% HP)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01BEE6-8FEB-23AE-8F69-C8A4DDDCDA1F}"/>
              </a:ext>
            </a:extLst>
          </p:cNvPr>
          <p:cNvSpPr txBox="1"/>
          <p:nvPr/>
        </p:nvSpPr>
        <p:spPr>
          <a:xfrm>
            <a:off x="4655600" y="6219500"/>
            <a:ext cx="4488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100% hydrogen boilers (100% HB)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4B5ADC-B419-A2A2-80E8-61D7E578E5CC}"/>
              </a:ext>
            </a:extLst>
          </p:cNvPr>
          <p:cNvSpPr txBox="1"/>
          <p:nvPr/>
        </p:nvSpPr>
        <p:spPr>
          <a:xfrm>
            <a:off x="-16202" y="951068"/>
            <a:ext cx="6346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planning (100% hydrogen blending, CCS from 2040)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A92A1C-A26F-4F7A-55F0-D57202C2C26F}"/>
              </a:ext>
            </a:extLst>
          </p:cNvPr>
          <p:cNvSpPr txBox="1">
            <a:spLocks/>
          </p:cNvSpPr>
          <p:nvPr/>
        </p:nvSpPr>
        <p:spPr>
          <a:xfrm>
            <a:off x="7993224" y="877625"/>
            <a:ext cx="115077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170247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BCE5D7-8A81-AC14-5643-BDE4C59DB22A}"/>
              </a:ext>
            </a:extLst>
          </p:cNvPr>
          <p:cNvSpPr txBox="1"/>
          <p:nvPr/>
        </p:nvSpPr>
        <p:spPr>
          <a:xfrm>
            <a:off x="1" y="421207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 Pathways for Residential Heating, North of Tyne – EFEA 2025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47DF93-3702-649C-8E5A-607F1F2E8DAC}"/>
              </a:ext>
            </a:extLst>
          </p:cNvPr>
          <p:cNvSpPr txBox="1">
            <a:spLocks/>
          </p:cNvSpPr>
          <p:nvPr/>
        </p:nvSpPr>
        <p:spPr>
          <a:xfrm>
            <a:off x="7532914" y="877625"/>
            <a:ext cx="16110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184E80F-2BE3-EE52-A485-FF020B90F6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347396"/>
            <a:ext cx="6755054" cy="333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 pumps: lowest-cost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Hydrogen: flexible backup, higher running costs.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Demand-side measures help affordability but are insufficient alone.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CCS needed for (near) net-zero with any blue H</a:t>
            </a:r>
            <a:r>
              <a:rPr kumimoji="0" lang="en-US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gas backup.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pathway: demand cuts + electrification + targeted H</a:t>
            </a:r>
            <a:r>
              <a:rPr kumimoji="0" lang="en-US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CCS.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 depends on integrated planning and public engagement.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079B5-ED91-1D6F-B28E-4BF656C1B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55EB5B-8A24-6230-A797-89E96C148E7A}"/>
              </a:ext>
            </a:extLst>
          </p:cNvPr>
          <p:cNvSpPr/>
          <p:nvPr/>
        </p:nvSpPr>
        <p:spPr>
          <a:xfrm>
            <a:off x="514736" y="1914070"/>
            <a:ext cx="811452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Socio‑Technical, Electrification, and Hydrogen‑Driven Pathways for Residential Heating Decarbonisation in the North of Tyne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mohamed.abuella@northumbria.ac.uk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268DED8-11E9-7BC1-FEA0-C43CE0B2838A}"/>
              </a:ext>
            </a:extLst>
          </p:cNvPr>
          <p:cNvSpPr txBox="1">
            <a:spLocks/>
          </p:cNvSpPr>
          <p:nvPr/>
        </p:nvSpPr>
        <p:spPr>
          <a:xfrm>
            <a:off x="-2" y="256014"/>
            <a:ext cx="9144002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9th International Conference on Environment Friendly Energies and Applications </a:t>
            </a:r>
          </a:p>
          <a:p>
            <a:pPr>
              <a:buNone/>
            </a:pPr>
            <a:r>
              <a:rPr 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EFEA 2025, Newcastle upon Tyne, UK.  4-5 December 2025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7F47CBD-74A6-B2DF-5771-BBD0CA12C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4" y="5732653"/>
            <a:ext cx="1946988" cy="788723"/>
          </a:xfrm>
          <a:prstGeom prst="rect">
            <a:avLst/>
          </a:prstGeom>
        </p:spPr>
      </p:pic>
      <p:pic>
        <p:nvPicPr>
          <p:cNvPr id="6" name="Picture 5" descr="A logo with purple letters&#10;&#10;AI-generated content may be incorrect.">
            <a:extLst>
              <a:ext uri="{FF2B5EF4-FFF2-40B4-BE49-F238E27FC236}">
                <a16:creationId xmlns:a16="http://schemas.microsoft.com/office/drawing/2014/main" id="{10774DBF-2FEF-CC3A-833A-81F385088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612" y="5732653"/>
            <a:ext cx="2088404" cy="85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4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1117</Words>
  <Application>Microsoft Office PowerPoint</Application>
  <PresentationFormat>On-screen Show (4:3)</PresentationFormat>
  <Paragraphs>195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Motivation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Abuella</cp:lastModifiedBy>
  <cp:revision>127</cp:revision>
  <dcterms:created xsi:type="dcterms:W3CDTF">2013-01-27T09:14:16Z</dcterms:created>
  <dcterms:modified xsi:type="dcterms:W3CDTF">2025-12-04T00:32:08Z</dcterms:modified>
  <cp:category/>
</cp:coreProperties>
</file>